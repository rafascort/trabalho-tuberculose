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NANODEGREE - PROJETO FINAL DE MACHINE LEARNING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Predição do Abandono do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Tratamento de Tuberculose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de maquina aplicado aos microdados do SINAN / DataSUS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Grupo: </a:t>
            </a:r>
            <a:pPr indent="0" marL="0">
              <a:buNone/>
            </a:pPr>
            <a:r>
              <a:rPr lang="en-US" sz="15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S. Pedra  -  [demais integrantes]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0"/>
            <a:ext cx="91440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3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problema: abandono do tratamento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49808" y="1572768"/>
            <a:ext cx="10058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288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tuberculose é causada pela bactéria </a:t>
            </a:r>
            <a:pPr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Mycobacterium tuberculosis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afeta os pulmões e é altamente transmissível quando ativa.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gratuito no SUS, mas longo: </a:t>
            </a:r>
            <a:pPr indent="0" marL="0">
              <a:buNone/>
            </a:pPr>
            <a:r>
              <a:rPr lang="en-US" sz="16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mínimo 6 meses de antibióticos.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Consequência: altas taxas de abandono.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33832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4023360"/>
            <a:ext cx="338328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206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3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Pior desfecho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47548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paciente não se cura e pode agravar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4023360"/>
            <a:ext cx="33832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4023360"/>
            <a:ext cx="3383280" cy="91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4206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3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Transmissão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2000" y="47548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 ativa segue circulando na comunidade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4023360"/>
            <a:ext cx="33832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4023360"/>
            <a:ext cx="338328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4206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3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Resistência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0" y="47548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interrompido gera cepas resistentes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Predição do Abandono do Tratamento de Tuberculose - SINAN/DataSUS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0"/>
            <a:ext cx="91440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DE PESQUISA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3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pra prever quem vai abandonar?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49808" y="1572768"/>
            <a:ext cx="10058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10698480" cy="1188720"/>
          </a:xfrm>
          <a:prstGeom prst="roundRect">
            <a:avLst>
              <a:gd name="adj" fmla="val 6154"/>
            </a:avLst>
          </a:prstGeom>
          <a:solidFill>
            <a:srgbClr val="063B3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Conseguimos estimar, já no diagnóstico, a probabilidade de um paciente abandonar o tratamento?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um algoritmo que informe a probabilidade de abandono, </a:t>
            </a:r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 priorizar pacientes de risco</a:t>
            </a:r>
            <a:pPr indent="0" marL="0">
              <a:buNone/>
            </a:pPr>
            <a:r>
              <a:rPr lang="en-US" sz="16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(visitas, tratamento observado, apoio social) e, no futuro, integrar a uma interface para os profissionais de saúde.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5212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 que atendemos: a equipe não consegue acompanhar de perto todos os pacientes - o modelo ajuda a focar nos casos certos.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Predição do Abandono do Tratamento de Tuberculose - SINAN/DataSUS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0"/>
            <a:ext cx="91440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3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Microdados do SINAN / DataSUS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49808" y="1572768"/>
            <a:ext cx="10058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= um caso notificado de tuberculose. Aplicamos filtros para casos comparáveis.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751076" y="2468880"/>
            <a:ext cx="86868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751076" y="2523744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2.188.471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51076" y="30175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brutos (todos os anos, 97 variáveis)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94076" y="3611880"/>
            <a:ext cx="6400800" cy="914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2894076" y="3666744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563.894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894076" y="4160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validos (adultos, TB pulmonar, sensíveis)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08476" y="4754880"/>
            <a:ext cx="4572000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3808476" y="480974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562.632 / 631 / 631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808476" y="5303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 /  teste1  /  teste2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Divisao temporal (treinar no passado, prever o futuro): treino &lt; 2025 | teste = 2025 dividido ao meio.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Predição do Abandono do Tratamento de Tuberculose - SINAN/DataSUS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0"/>
            <a:ext cx="91440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VARIÁVEL-ALVO E PREPARACAO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3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tratamos os dados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49808" y="1572768"/>
            <a:ext cx="10058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Variável-alvo (ltfu)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abandono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cura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derivado de SITUA_ENCE (só cura/abandono).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Pre-processamento (estilo das aulas)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decodificada; criada a feature de atraso diagnóstico-&gt;tratamento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Ausentes: numericas pela mediana; categoricas viram a categoria 'ignorado'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(StandardScaler) + codificação (OneHotEncoder)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Removido vazamento (SITUA_ENCE e exames do 6o mes)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num ColumnTransformer da Scikit-Learn (reprodutível)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Predição do Abandono do Tratamento de Tuberculose - SINAN/DataSUS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0"/>
            <a:ext cx="91440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3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Dois modelos, um protocolo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49808" y="1572768"/>
            <a:ext cx="10058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5029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920240"/>
            <a:ext cx="109728" cy="21031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3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Regressão Logística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0584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BASE (BASELINE)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971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Simples, rapida e interpretavel. Referencia de comparacao.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5029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920240"/>
            <a:ext cx="109728" cy="21031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3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Rede Neural (Keras)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9224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PRINCIPAL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971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camadas ocultas + dropout, saida sigmoide (probabilidade).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389120"/>
            <a:ext cx="10698480" cy="1371600"/>
          </a:xfrm>
          <a:prstGeom prst="roundRect">
            <a:avLst>
              <a:gd name="adj" fmla="val 4000"/>
            </a:avLst>
          </a:prstGeom>
          <a:solidFill>
            <a:srgbClr val="E7F1EF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5262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avaliação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8463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treina no treino -&gt; avalia no teste1    </a:t>
            </a:r>
            <a:pPr indent="0" marL="0">
              <a:buNone/>
            </a:pPr>
            <a:r>
              <a:rPr lang="en-US" sz="15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junta teste1 ao treino -&gt; avalia no teste2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53035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Desbalanceamento tratado com class_weight (SMOTE inviável em ~560 mil linhas). Conjuntos de teste usados o mínimo possível.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Predição do Abandono do Tratamento de Tuberculose - SINAN/DataSUS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0"/>
            <a:ext cx="91440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3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Métricas escolhidas (antes de treinar)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49808" y="1572768"/>
            <a:ext cx="10058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alvo e desbalanceado, a acurácia engana. Priorizamos: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3383280" cy="1828800"/>
          </a:xfrm>
          <a:prstGeom prst="rect">
            <a:avLst/>
          </a:prstGeom>
          <a:solidFill>
            <a:srgbClr val="063B3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346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05840" y="35661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quem vai abandonar (prioridade)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2560320"/>
            <a:ext cx="3383280" cy="1828800"/>
          </a:xfrm>
          <a:prstGeom prst="rect">
            <a:avLst/>
          </a:prstGeom>
          <a:solidFill>
            <a:srgbClr val="063B3E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28346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35661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equilibrio entre precisão e recall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2560320"/>
            <a:ext cx="3383280" cy="1828800"/>
          </a:xfrm>
          <a:prstGeom prst="rect">
            <a:avLst/>
          </a:prstGeom>
          <a:solidFill>
            <a:srgbClr val="063B3E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28346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ROC-AUC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321040" y="35661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 a prevalência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7548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mais grave: deixar passar um abandono (falso negativo). Por isso o recall recebe atencao especial.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Predição do Abandono do Tratamento de Tuberculose - SINAN/DataSUS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0"/>
            <a:ext cx="91440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3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Dois modelos, desempenho semelhante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49808" y="1572768"/>
            <a:ext cx="10058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pic>
        <p:nvPicPr>
          <p:cNvPr id="7" name="Image 0" descr="/sessions/youthful-fervent-cori/mnt/Nova pasta/projeto-tuberculose/figuras/fig_roc_test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828800"/>
            <a:ext cx="3931920" cy="3776472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11680"/>
          <a:ext cx="64008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8872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/ Teste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LogReg - Teste1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 Neural - Teste1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LogReg - Teste2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 Neural - Teste2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31520" y="484632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próximo </a:t>
            </a:r>
            <a:pPr indent="0" marL="0">
              <a:buNone/>
            </a:pPr>
            <a:r>
              <a:rPr lang="en-US" sz="14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os modelos: a rede neural leva leve vantagem no ROC-AUC; a regressão logística é competitiva e mais simples de explicar. Recall alto (~0,76-0,78) nos dois.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Predição do Abandono do Tratamento de Tuberculose - SINAN/DataSUS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0"/>
            <a:ext cx="91440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METODOLÓGICO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3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a prevalência muda tanto?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49808" y="1572768"/>
            <a:ext cx="10058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pic>
        <p:nvPicPr>
          <p:cNvPr id="7" name="Image 0" descr="/sessions/youthful-fervent-cori/mnt/Nova pasta/projeto-tuberculose/figuras/fig_prevalenc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920240"/>
            <a:ext cx="4023360" cy="2889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01168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6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abandono passa de 19% (treino) para 44% e 69% (testes de 2025).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 erro: e censura a direita. </a:t>
            </a:r>
            <a:pPr indent="0" marL="0">
              <a:buNone/>
            </a:pPr>
            <a:r>
              <a:rPr lang="en-US" sz="16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 só e registrada após ~6 meses; em 2025 os casos já encerrados são, em sua maioria, abandonos (que encerram cedo).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1520" y="4663440"/>
            <a:ext cx="6400800" cy="1097280"/>
          </a:xfrm>
          <a:prstGeom prst="roundRect">
            <a:avLst>
              <a:gd name="adj" fmla="val 5000"/>
            </a:avLst>
          </a:prstGeom>
          <a:solidFill>
            <a:srgbClr val="FBEEEC"/>
          </a:solidFill>
          <a:ln w="12700">
            <a:solidFill>
              <a:srgbClr val="E6B8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66344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priorizamos a ROC-AUC e interpretamos acurácia/precisão com cautela nos testes.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Predição do Abandono do Tratamento de Tuberculose - SINAN/DataSUS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0"/>
            <a:ext cx="91440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EXPLICABILIDADE (XAI)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3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pesa na predição?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49808" y="1572768"/>
            <a:ext cx="10058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pic>
        <p:nvPicPr>
          <p:cNvPr id="7" name="Image 0" descr="/sessions/youthful-fervent-cori/mnt/Nova pasta/projeto-tuberculose/figuras/fig_importanc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828800"/>
            <a:ext cx="4480560" cy="29900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92024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+ SHAP apontam fatores coerentes com a literatura: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651760"/>
            <a:ext cx="5852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Alcoolismo e uso de drogas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de rua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Coinfecção por HIV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tratamento observado (TDO)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484632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sanidade: paciente ficticio com agravos e sem TDO recebeu probabilidade muito maior - o modelo aprendeu padrões plausiveis.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Predição do Abandono do Tratamento de Tuberculose - SINAN/DataSUS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0"/>
            <a:ext cx="91440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114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EM PRODUÇÃO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3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app para o profissional de saúde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49808" y="1572768"/>
            <a:ext cx="10058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pic>
        <p:nvPicPr>
          <p:cNvPr id="7" name="Image 0" descr="/sessions/youthful-fervent-cori/mnt/Nova pasta/projeto-tuberculose/figuras/fig_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783080"/>
            <a:ext cx="5120640" cy="3767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8745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profissional insere poucas informações e recebe: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2468880"/>
            <a:ext cx="5303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probabilidade de abandono</a:t>
            </a:r>
            <a:endParaRPr lang="en-US" sz="15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classificação de risco (baixo/médio/alto)</a:t>
            </a:r>
            <a:endParaRPr lang="en-US" sz="15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B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sugeridas (ex.: TDO, visita, apoio social)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1520" y="4114800"/>
            <a:ext cx="5486400" cy="1645920"/>
          </a:xfrm>
          <a:prstGeom prst="roundRect">
            <a:avLst>
              <a:gd name="adj" fmla="val 3333"/>
            </a:avLst>
          </a:prstGeom>
          <a:solidFill>
            <a:srgbClr val="E7F1EF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420624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Motor: modelo reduzido a 8 variáveis (menos campos = mais uso). MLOps: monitorar, reavaliar e versionar. Etica: direcionar MAIS apoio a quem tem risco, nunca negar cuidado.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Predição do Abandono do Tratamento de Tuberculose - SINAN/DataSUS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3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0"/>
            <a:ext cx="91440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CONSIDERAÇÕES FINAIS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possível prever o risco de abandono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reprodutível, do dado bruto ao modelo</a:t>
            </a:r>
            <a:endParaRPr lang="en-US" sz="18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modelos com desempenho semelhante (ROC-AUC ~0,75-0,79)</a:t>
            </a:r>
            <a:endParaRPr lang="en-US" sz="18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8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Fatores de risco coerentes com a literatura (xAI)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simples para o profissional de saúde (poucos campos de entrada)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do modelo em produção (MLOps) e reavaliação periódica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FE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 de probabilidades para apoio a decisão clínica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3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Obrigado!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TB - Predição do Abandono do Tratamento de Tuberculose - 2026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Predição do Abandono do Tratamento de Tuberculose</dc:title>
  <dc:subject>PptxGenJS Presentation</dc:subject>
  <dc:creator>Grupo TB - Nanodegree</dc:creator>
  <cp:lastModifiedBy>Grupo TB - Nanodegree</cp:lastModifiedBy>
  <cp:revision>1</cp:revision>
  <dcterms:created xsi:type="dcterms:W3CDTF">2026-06-17T22:38:50Z</dcterms:created>
  <dcterms:modified xsi:type="dcterms:W3CDTF">2026-06-17T22:38:50Z</dcterms:modified>
</cp:coreProperties>
</file>